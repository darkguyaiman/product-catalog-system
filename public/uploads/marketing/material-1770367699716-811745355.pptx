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Lst>
  <p:sldSz cx="18288000" cy="10287000"/>
  <p:notesSz cx="6858000" cy="9144000"/>
  <p:embeddedFontLst>
    <p:embeddedFont>
      <p:font typeface="Anton" charset="1" panose="00000500000000000000"/>
      <p:regular r:id="rId9"/>
    </p:embeddedFont>
    <p:embeddedFont>
      <p:font typeface="Inter" charset="1" panose="020B0502030000000004"/>
      <p:regular r:id="rId1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5636022"/>
            <a:ext cx="3834273" cy="3622278"/>
            <a:chOff x="0" y="0"/>
            <a:chExt cx="5112364" cy="4829704"/>
          </a:xfrm>
        </p:grpSpPr>
        <p:sp>
          <p:nvSpPr>
            <p:cNvPr name="Freeform 3" id="3"/>
            <p:cNvSpPr/>
            <p:nvPr/>
          </p:nvSpPr>
          <p:spPr>
            <a:xfrm flipH="false" flipV="false" rot="0">
              <a:off x="924646" y="114281"/>
              <a:ext cx="3712324" cy="4715423"/>
            </a:xfrm>
            <a:custGeom>
              <a:avLst/>
              <a:gdLst/>
              <a:ahLst/>
              <a:cxnLst/>
              <a:rect r="r" b="b" t="t" l="l"/>
              <a:pathLst>
                <a:path h="4715423" w="3712324">
                  <a:moveTo>
                    <a:pt x="0" y="0"/>
                  </a:moveTo>
                  <a:lnTo>
                    <a:pt x="3712323" y="0"/>
                  </a:lnTo>
                  <a:lnTo>
                    <a:pt x="3712323" y="4715423"/>
                  </a:lnTo>
                  <a:lnTo>
                    <a:pt x="0" y="47154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678324">
              <a:off x="80823" y="3883728"/>
              <a:ext cx="660146" cy="889903"/>
            </a:xfrm>
            <a:custGeom>
              <a:avLst/>
              <a:gdLst/>
              <a:ahLst/>
              <a:cxnLst/>
              <a:rect r="r" b="b" t="t" l="l"/>
              <a:pathLst>
                <a:path h="889903" w="660146">
                  <a:moveTo>
                    <a:pt x="0" y="0"/>
                  </a:moveTo>
                  <a:lnTo>
                    <a:pt x="660146" y="0"/>
                  </a:lnTo>
                  <a:lnTo>
                    <a:pt x="660146" y="889903"/>
                  </a:lnTo>
                  <a:lnTo>
                    <a:pt x="0" y="8899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344425" y="0"/>
              <a:ext cx="767939" cy="767939"/>
            </a:xfrm>
            <a:custGeom>
              <a:avLst/>
              <a:gdLst/>
              <a:ahLst/>
              <a:cxnLst/>
              <a:rect r="r" b="b" t="t" l="l"/>
              <a:pathLst>
                <a:path h="767939" w="767939">
                  <a:moveTo>
                    <a:pt x="0" y="0"/>
                  </a:moveTo>
                  <a:lnTo>
                    <a:pt x="767939" y="0"/>
                  </a:lnTo>
                  <a:lnTo>
                    <a:pt x="767939" y="767939"/>
                  </a:lnTo>
                  <a:lnTo>
                    <a:pt x="0" y="76793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Freeform 6" id="6"/>
          <p:cNvSpPr/>
          <p:nvPr/>
        </p:nvSpPr>
        <p:spPr>
          <a:xfrm flipH="false" flipV="false" rot="0">
            <a:off x="8982704" y="1848354"/>
            <a:ext cx="7672456" cy="7575336"/>
          </a:xfrm>
          <a:custGeom>
            <a:avLst/>
            <a:gdLst/>
            <a:ahLst/>
            <a:cxnLst/>
            <a:rect r="r" b="b" t="t" l="l"/>
            <a:pathLst>
              <a:path h="7575336" w="7672456">
                <a:moveTo>
                  <a:pt x="0" y="0"/>
                </a:moveTo>
                <a:lnTo>
                  <a:pt x="7672456" y="0"/>
                </a:lnTo>
                <a:lnTo>
                  <a:pt x="7672456" y="7575336"/>
                </a:lnTo>
                <a:lnTo>
                  <a:pt x="0" y="7575336"/>
                </a:lnTo>
                <a:lnTo>
                  <a:pt x="0" y="0"/>
                </a:lnTo>
                <a:close/>
              </a:path>
            </a:pathLst>
          </a:custGeom>
          <a:blipFill>
            <a:blip r:embed="rId8"/>
            <a:stretch>
              <a:fillRect l="0" t="0" r="0" b="0"/>
            </a:stretch>
          </a:blipFill>
        </p:spPr>
      </p:sp>
      <p:sp>
        <p:nvSpPr>
          <p:cNvPr name="TextBox 7" id="7"/>
          <p:cNvSpPr txBox="true"/>
          <p:nvPr/>
        </p:nvSpPr>
        <p:spPr>
          <a:xfrm rot="0">
            <a:off x="0" y="566738"/>
            <a:ext cx="18288000" cy="923925"/>
          </a:xfrm>
          <a:prstGeom prst="rect">
            <a:avLst/>
          </a:prstGeom>
        </p:spPr>
        <p:txBody>
          <a:bodyPr anchor="t" rtlCol="false" tIns="0" lIns="0" bIns="0" rIns="0">
            <a:spAutoFit/>
          </a:bodyPr>
          <a:lstStyle/>
          <a:p>
            <a:pPr algn="ctr">
              <a:lnSpc>
                <a:spcPts val="7320"/>
              </a:lnSpc>
            </a:pPr>
            <a:r>
              <a:rPr lang="en-US" sz="6100">
                <a:solidFill>
                  <a:srgbClr val="000000"/>
                </a:solidFill>
                <a:latin typeface="Anton"/>
                <a:ea typeface="Anton"/>
                <a:cs typeface="Anton"/>
                <a:sym typeface="Anton"/>
              </a:rPr>
              <a:t>THE FOURTH GENERATION: 1970S–PRESENT</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5636022"/>
            <a:ext cx="3834273" cy="3622278"/>
            <a:chOff x="0" y="0"/>
            <a:chExt cx="5112364" cy="4829704"/>
          </a:xfrm>
        </p:grpSpPr>
        <p:sp>
          <p:nvSpPr>
            <p:cNvPr name="Freeform 3" id="3"/>
            <p:cNvSpPr/>
            <p:nvPr/>
          </p:nvSpPr>
          <p:spPr>
            <a:xfrm flipH="false" flipV="false" rot="0">
              <a:off x="924646" y="114281"/>
              <a:ext cx="3712324" cy="4715423"/>
            </a:xfrm>
            <a:custGeom>
              <a:avLst/>
              <a:gdLst/>
              <a:ahLst/>
              <a:cxnLst/>
              <a:rect r="r" b="b" t="t" l="l"/>
              <a:pathLst>
                <a:path h="4715423" w="3712324">
                  <a:moveTo>
                    <a:pt x="0" y="0"/>
                  </a:moveTo>
                  <a:lnTo>
                    <a:pt x="3712323" y="0"/>
                  </a:lnTo>
                  <a:lnTo>
                    <a:pt x="3712323" y="4715423"/>
                  </a:lnTo>
                  <a:lnTo>
                    <a:pt x="0" y="47154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678324">
              <a:off x="80823" y="3883728"/>
              <a:ext cx="660146" cy="889903"/>
            </a:xfrm>
            <a:custGeom>
              <a:avLst/>
              <a:gdLst/>
              <a:ahLst/>
              <a:cxnLst/>
              <a:rect r="r" b="b" t="t" l="l"/>
              <a:pathLst>
                <a:path h="889903" w="660146">
                  <a:moveTo>
                    <a:pt x="0" y="0"/>
                  </a:moveTo>
                  <a:lnTo>
                    <a:pt x="660146" y="0"/>
                  </a:lnTo>
                  <a:lnTo>
                    <a:pt x="660146" y="889903"/>
                  </a:lnTo>
                  <a:lnTo>
                    <a:pt x="0" y="8899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344425" y="0"/>
              <a:ext cx="767939" cy="767939"/>
            </a:xfrm>
            <a:custGeom>
              <a:avLst/>
              <a:gdLst/>
              <a:ahLst/>
              <a:cxnLst/>
              <a:rect r="r" b="b" t="t" l="l"/>
              <a:pathLst>
                <a:path h="767939" w="767939">
                  <a:moveTo>
                    <a:pt x="0" y="0"/>
                  </a:moveTo>
                  <a:lnTo>
                    <a:pt x="767939" y="0"/>
                  </a:lnTo>
                  <a:lnTo>
                    <a:pt x="767939" y="767939"/>
                  </a:lnTo>
                  <a:lnTo>
                    <a:pt x="0" y="76793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TextBox 6" id="6"/>
          <p:cNvSpPr txBox="true"/>
          <p:nvPr/>
        </p:nvSpPr>
        <p:spPr>
          <a:xfrm rot="0">
            <a:off x="0" y="566738"/>
            <a:ext cx="18288000" cy="923925"/>
          </a:xfrm>
          <a:prstGeom prst="rect">
            <a:avLst/>
          </a:prstGeom>
        </p:spPr>
        <p:txBody>
          <a:bodyPr anchor="t" rtlCol="false" tIns="0" lIns="0" bIns="0" rIns="0">
            <a:spAutoFit/>
          </a:bodyPr>
          <a:lstStyle/>
          <a:p>
            <a:pPr algn="ctr">
              <a:lnSpc>
                <a:spcPts val="7320"/>
              </a:lnSpc>
            </a:pPr>
            <a:r>
              <a:rPr lang="en-US" sz="6100">
                <a:solidFill>
                  <a:srgbClr val="000000"/>
                </a:solidFill>
                <a:latin typeface="Anton"/>
                <a:ea typeface="Anton"/>
                <a:cs typeface="Anton"/>
                <a:sym typeface="Anton"/>
              </a:rPr>
              <a:t>THE FOURTH GENERATION: 1970S–PRESENT</a:t>
            </a:r>
          </a:p>
        </p:txBody>
      </p:sp>
      <p:sp>
        <p:nvSpPr>
          <p:cNvPr name="TextBox 7" id="7"/>
          <p:cNvSpPr txBox="true"/>
          <p:nvPr/>
        </p:nvSpPr>
        <p:spPr>
          <a:xfrm rot="0">
            <a:off x="8090767" y="3121516"/>
            <a:ext cx="8997893" cy="3996342"/>
          </a:xfrm>
          <a:prstGeom prst="rect">
            <a:avLst/>
          </a:prstGeom>
        </p:spPr>
        <p:txBody>
          <a:bodyPr anchor="t" rtlCol="false" tIns="0" lIns="0" bIns="0" rIns="0">
            <a:spAutoFit/>
          </a:bodyPr>
          <a:lstStyle/>
          <a:p>
            <a:pPr algn="just">
              <a:lnSpc>
                <a:spcPts val="2916"/>
              </a:lnSpc>
            </a:pPr>
            <a:r>
              <a:rPr lang="en-US" sz="2083">
                <a:solidFill>
                  <a:srgbClr val="000000"/>
                </a:solidFill>
                <a:latin typeface="Inter"/>
                <a:ea typeface="Inter"/>
                <a:cs typeface="Inter"/>
                <a:sym typeface="Inter"/>
              </a:rPr>
              <a:t>The development of the microprocessor was a key milestone in c</a:t>
            </a:r>
            <a:r>
              <a:rPr lang="en-US" sz="2083">
                <a:solidFill>
                  <a:srgbClr val="000000"/>
                </a:solidFill>
                <a:latin typeface="Inter"/>
                <a:ea typeface="Inter"/>
                <a:cs typeface="Inter"/>
                <a:sym typeface="Inter"/>
              </a:rPr>
              <a:t>omputing because it integrated the entire CPU onto a single chip. This reduced the size, cost, and power consumption of computers while improving performance and reliability. </a:t>
            </a:r>
          </a:p>
          <a:p>
            <a:pPr algn="just">
              <a:lnSpc>
                <a:spcPts val="2916"/>
              </a:lnSpc>
            </a:pPr>
          </a:p>
          <a:p>
            <a:pPr algn="just">
              <a:lnSpc>
                <a:spcPts val="2916"/>
              </a:lnSpc>
            </a:pPr>
            <a:r>
              <a:rPr lang="en-US" sz="2083">
                <a:solidFill>
                  <a:srgbClr val="000000"/>
                </a:solidFill>
                <a:latin typeface="Inter"/>
                <a:ea typeface="Inter"/>
                <a:cs typeface="Inter"/>
                <a:sym typeface="Inter"/>
              </a:rPr>
              <a:t>As a result, microcomputers were created, making computers smaller, more powerful, and affordable for a wider range of users, including individuals and small businesses. Continuous improvements in microprocessor design later enabled faster processing and supported the growth of modern devices such as personal computers and smartphones.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028700" y="5636022"/>
            <a:ext cx="3834273" cy="3622278"/>
            <a:chOff x="0" y="0"/>
            <a:chExt cx="5112364" cy="4829704"/>
          </a:xfrm>
        </p:grpSpPr>
        <p:sp>
          <p:nvSpPr>
            <p:cNvPr name="Freeform 3" id="3"/>
            <p:cNvSpPr/>
            <p:nvPr/>
          </p:nvSpPr>
          <p:spPr>
            <a:xfrm flipH="false" flipV="false" rot="0">
              <a:off x="924646" y="114281"/>
              <a:ext cx="3712324" cy="4715423"/>
            </a:xfrm>
            <a:custGeom>
              <a:avLst/>
              <a:gdLst/>
              <a:ahLst/>
              <a:cxnLst/>
              <a:rect r="r" b="b" t="t" l="l"/>
              <a:pathLst>
                <a:path h="4715423" w="3712324">
                  <a:moveTo>
                    <a:pt x="0" y="0"/>
                  </a:moveTo>
                  <a:lnTo>
                    <a:pt x="3712323" y="0"/>
                  </a:lnTo>
                  <a:lnTo>
                    <a:pt x="3712323" y="4715423"/>
                  </a:lnTo>
                  <a:lnTo>
                    <a:pt x="0" y="471542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678324">
              <a:off x="80823" y="3883728"/>
              <a:ext cx="660146" cy="889903"/>
            </a:xfrm>
            <a:custGeom>
              <a:avLst/>
              <a:gdLst/>
              <a:ahLst/>
              <a:cxnLst/>
              <a:rect r="r" b="b" t="t" l="l"/>
              <a:pathLst>
                <a:path h="889903" w="660146">
                  <a:moveTo>
                    <a:pt x="0" y="0"/>
                  </a:moveTo>
                  <a:lnTo>
                    <a:pt x="660146" y="0"/>
                  </a:lnTo>
                  <a:lnTo>
                    <a:pt x="660146" y="889903"/>
                  </a:lnTo>
                  <a:lnTo>
                    <a:pt x="0" y="88990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4344425" y="0"/>
              <a:ext cx="767939" cy="767939"/>
            </a:xfrm>
            <a:custGeom>
              <a:avLst/>
              <a:gdLst/>
              <a:ahLst/>
              <a:cxnLst/>
              <a:rect r="r" b="b" t="t" l="l"/>
              <a:pathLst>
                <a:path h="767939" w="767939">
                  <a:moveTo>
                    <a:pt x="0" y="0"/>
                  </a:moveTo>
                  <a:lnTo>
                    <a:pt x="767939" y="0"/>
                  </a:lnTo>
                  <a:lnTo>
                    <a:pt x="767939" y="767939"/>
                  </a:lnTo>
                  <a:lnTo>
                    <a:pt x="0" y="76793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sp>
        <p:nvSpPr>
          <p:cNvPr name="TextBox 6" id="6"/>
          <p:cNvSpPr txBox="true"/>
          <p:nvPr/>
        </p:nvSpPr>
        <p:spPr>
          <a:xfrm rot="0">
            <a:off x="0" y="566738"/>
            <a:ext cx="18288000" cy="923925"/>
          </a:xfrm>
          <a:prstGeom prst="rect">
            <a:avLst/>
          </a:prstGeom>
        </p:spPr>
        <p:txBody>
          <a:bodyPr anchor="t" rtlCol="false" tIns="0" lIns="0" bIns="0" rIns="0">
            <a:spAutoFit/>
          </a:bodyPr>
          <a:lstStyle/>
          <a:p>
            <a:pPr algn="ctr">
              <a:lnSpc>
                <a:spcPts val="7320"/>
              </a:lnSpc>
            </a:pPr>
            <a:r>
              <a:rPr lang="en-US" sz="6100">
                <a:solidFill>
                  <a:srgbClr val="000000"/>
                </a:solidFill>
                <a:latin typeface="Anton"/>
                <a:ea typeface="Anton"/>
                <a:cs typeface="Anton"/>
                <a:sym typeface="Anton"/>
              </a:rPr>
              <a:t>THE FOURTH GENERATION: 1970S–PRESENT</a:t>
            </a:r>
          </a:p>
        </p:txBody>
      </p:sp>
      <p:sp>
        <p:nvSpPr>
          <p:cNvPr name="TextBox 7" id="7"/>
          <p:cNvSpPr txBox="true"/>
          <p:nvPr/>
        </p:nvSpPr>
        <p:spPr>
          <a:xfrm rot="0">
            <a:off x="8090767" y="3121516"/>
            <a:ext cx="8997893" cy="5815266"/>
          </a:xfrm>
          <a:prstGeom prst="rect">
            <a:avLst/>
          </a:prstGeom>
        </p:spPr>
        <p:txBody>
          <a:bodyPr anchor="t" rtlCol="false" tIns="0" lIns="0" bIns="0" rIns="0">
            <a:spAutoFit/>
          </a:bodyPr>
          <a:lstStyle/>
          <a:p>
            <a:pPr algn="just">
              <a:lnSpc>
                <a:spcPts val="2916"/>
              </a:lnSpc>
            </a:pPr>
            <a:r>
              <a:rPr lang="en-US" sz="2083">
                <a:solidFill>
                  <a:srgbClr val="000000"/>
                </a:solidFill>
                <a:latin typeface="Inter"/>
                <a:ea typeface="Inter"/>
                <a:cs typeface="Inter"/>
                <a:sym typeface="Inter"/>
              </a:rPr>
              <a:t>Advantages:</a:t>
            </a:r>
          </a:p>
          <a:p>
            <a:pPr algn="just">
              <a:lnSpc>
                <a:spcPts val="2916"/>
              </a:lnSpc>
            </a:pPr>
            <a:r>
              <a:rPr lang="en-US" sz="2083">
                <a:solidFill>
                  <a:srgbClr val="000000"/>
                </a:solidFill>
                <a:latin typeface="Inter"/>
                <a:ea typeface="Inter"/>
                <a:cs typeface="Inter"/>
                <a:sym typeface="Inter"/>
              </a:rPr>
              <a:t>Microprocessors make computers much smaller, cheaper, and more energy effic</a:t>
            </a:r>
            <a:r>
              <a:rPr lang="en-US" sz="2083">
                <a:solidFill>
                  <a:srgbClr val="000000"/>
                </a:solidFill>
                <a:latin typeface="Inter"/>
                <a:ea typeface="Inter"/>
                <a:cs typeface="Inter"/>
                <a:sym typeface="Inter"/>
              </a:rPr>
              <a:t>ient because all CPU functions are integrated onto a single chip. They are more reliable since there are fewer physical connections that can fail, and they allow faster processing and mass production. This made computers accessible to individuals, schools, and small businesses instead of only large organizations.</a:t>
            </a:r>
          </a:p>
          <a:p>
            <a:pPr algn="just">
              <a:lnSpc>
                <a:spcPts val="2916"/>
              </a:lnSpc>
            </a:pPr>
          </a:p>
          <a:p>
            <a:pPr algn="just">
              <a:lnSpc>
                <a:spcPts val="2916"/>
              </a:lnSpc>
            </a:pPr>
            <a:r>
              <a:rPr lang="en-US" sz="2083">
                <a:solidFill>
                  <a:srgbClr val="000000"/>
                </a:solidFill>
                <a:latin typeface="Inter"/>
                <a:ea typeface="Inter"/>
                <a:cs typeface="Inter"/>
                <a:sym typeface="Inter"/>
              </a:rPr>
              <a:t>Disadvantages:</a:t>
            </a:r>
          </a:p>
          <a:p>
            <a:pPr algn="just">
              <a:lnSpc>
                <a:spcPts val="2916"/>
              </a:lnSpc>
            </a:pPr>
            <a:r>
              <a:rPr lang="en-US" sz="2083">
                <a:solidFill>
                  <a:srgbClr val="000000"/>
                </a:solidFill>
                <a:latin typeface="Inter"/>
                <a:ea typeface="Inter"/>
                <a:cs typeface="Inter"/>
                <a:sym typeface="Inter"/>
              </a:rPr>
              <a:t>Because everything is integrated into one chip, upgrading or repairing individual CPU components is difficult or impossible. High performance microprocessors can also generate significant heat and require advanced cooling. In early stages, microprocessors were less powerful than large mainframe systems designed for specialized, heavy workloads.</a:t>
            </a:r>
          </a:p>
          <a:p>
            <a:pPr algn="just">
              <a:lnSpc>
                <a:spcPts val="2916"/>
              </a:lnSpc>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DAG-62QNsfA</dc:identifier>
  <dcterms:modified xsi:type="dcterms:W3CDTF">2011-08-01T06:04:30Z</dcterms:modified>
  <cp:revision>1</cp:revision>
  <dc:title>The Fourth Generation: 1970s–Present</dc:title>
</cp:coreProperties>
</file>